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6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notesSlides/notesSlide7.xml" ContentType="application/vnd.openxmlformats-officedocument.presentationml.notesSlide+xml"/>
  <Override PartName="/ppt/ink/ink5.xml" ContentType="application/inkml+xml"/>
  <Override PartName="/ppt/ink/ink6.xml" ContentType="application/inkml+xml"/>
  <Override PartName="/ppt/notesSlides/notesSlide8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9.xml" ContentType="application/inkml+xml"/>
  <Override PartName="/ppt/ink/ink10.xml" ContentType="application/inkml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5" r:id="rId4"/>
    <p:sldId id="267" r:id="rId5"/>
    <p:sldId id="270" r:id="rId6"/>
    <p:sldId id="266" r:id="rId7"/>
    <p:sldId id="268" r:id="rId8"/>
    <p:sldId id="259" r:id="rId9"/>
    <p:sldId id="258" r:id="rId10"/>
    <p:sldId id="271" r:id="rId11"/>
    <p:sldId id="262" r:id="rId12"/>
    <p:sldId id="260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343"/>
    <p:restoredTop sz="78039"/>
  </p:normalViewPr>
  <p:slideViewPr>
    <p:cSldViewPr snapToGrid="0">
      <p:cViewPr>
        <p:scale>
          <a:sx n="65" d="100"/>
          <a:sy n="65" d="100"/>
        </p:scale>
        <p:origin x="1376" y="8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56:13.0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233 0 24575,'0'53'0,"0"12"0,0 11 0,0 11 0,0-10 0,0 7 0,0-7 0,0 9 0,0-9 0,0 7 0,0-17 0,0-9 0,0-7 0,0-23 0,0 0 0,0-9 0,0-7 0,0 0 0,0 0 0,0 0 0,0-1 0,0 0 0,0 0 0,0 0 0,0 7 0,0 2 0,0 14 0,0-5 0,0 25 0,0-14 0,-6 8 0,5-13 0,-5-9 0,6-5 0,0-3 0,0-6 0,0 1 0,0-1 0,0 0 0,0-10 0,-11-3 0,9-11 0,-14 0 0,15 0 0,-10 6 0,9-5 0,-9 4 0,10-5 0,-10-1 0,4 1 0,0 0 0,-3 5 0,8-4 0,-8 4 0,8-5 0,-8 6 0,3-5 0,-5 5 0,-1-7 0,1 1 0,0 5 0,-1-4 0,1 10 0,5-10 0,-4 9 0,10-8 0,-5 13 0,6-1 0,11 15 0,-3-4 0,10 5 0,-6-6 0,-5 0 0,3 0 0,-3 0 0,5 0 0,0 0 0,0 1 0,-5-1 0,4 0 0,-4-5 0,-1 3 0,5-3 0,-4 5 0,5 0 0,1 7 0,6-5 0,-5 5 0,5-6 0,-7 6 0,1-6 0,-1 6 0,-5-7 0,3-6 0,-3-5 0,4-8 0,7-5 0,3-7 0,49-21 0,-38 8 0,30-2 0,-49 17 0,-1 10 0,0 0 0,-5-3 0,-2 3 0,-5-4 0,0 5 0,0 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56:15.8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204 1 24575,'0'31'0,"0"12"0,0 34 0,0 13-4916,0-2 1,0 3 4170,0-32 0,0 0 745,0 31 0,0-4 2542,0-7-2542,0-13 0,0 1 0,0 19 628,0-19 1,0 1-629,0 22 0,0-12 0,0-24 0,0-2 0,0 12 0,0-5 0,0 1 0,0 9-9,0 16 9,0-20 6414,0-10-6414,0-10 340,0-17-340,0-9 761,0-7-761,0 0 16,0 0-16,0-10 0,0-9 0,-6-6 0,5-11 0,-5 10 0,1-5 0,3 7 0,-9-1 0,10 1 0,-10 0 0,4-1 0,-6-5 0,1 4 0,-1-12 0,0 12 0,-6-11 0,5 11 0,-6-11 0,8 11 0,-1-5 0,6 7 0,-4 5 0,10-4 0,-5 4 0,6 6 0,6 2 0,0 11 0,7 0 0,-1 0 0,0 0 0,-5 0 0,3 0 0,-3 0 0,0 1 0,4-1 0,-10 0 0,10-5 0,-10 3 0,10-9 0,-10 9 0,10-9 0,-10 10 0,9-10 0,-3 10 0,5-4 0,0 5 0,0 0 0,1 0 0,-1 0 0,0-5 0,0 4 0,0-10 0,-5 10 0,-2-15 0,-5 3 0,0-10 0,6-7 0,1-2 0,11-11 0,-4 9 0,11-9 0,-11 17 0,11-11 0,-11 11 0,4-5 0,-6 6 0,1 1 0,-1 5 0,-6-4 0,5 10 0,-10-10 0,9 5 0,-9-6 0,10 5 0,-10-3 0,10 8 0,-10-9 0,4 10 0,-5-4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36:06.2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1 174 18857,'24'5'0,"31"-1"0,21-4 0,-18 0 0,14 0 0,-5 0 0,12 0 0,7 0 0,-2 0 0,-7 0 0,-11 0 0,-7 0 0,2 0 0,6 0-430,3 0 1,9 0-1,3 0 1,0 0-1,-5 0 1,-10 0 429,8 0 0,-10 0 0,1 0-484,6 0 1,0 0 0,0 0 483,-3 0 0,0 0 0,-1 0 0,-3 0 0,-1 0 0,0 0 119,4 0 1,0 0-1,-5 0-119,0 0 0,-3 0-85,17 0 1,-2 0 84,-28 0 0,0 0 0,14 0 0,0 0 932,-19 0 1,-1 0-933,37 0 3223,-28 0-3223,-6 0 2199,-2 0-2199,-14 0 1859,0 4-1859,-1-2 410,2 8-410,6-4 0,-1 6 0,1-6 0,0 4 0,0-3 0,-1 0 0,-4 2 0,-3-2 0,-11-2 0,4 0 0,-10-5 0,5 0 0,-5 4 0,-1-3 0,6 3 0,-4-4 0,3 0 0,-3 0 0,-2 0 0,1 0 0,-1 0 0,-8-4 0,-2 0 0,-19-12 0,1-1 0,-7-5 0,-18-5 0,17 9 0,-37-14 0,31 17 0,-18-7 0,17 10 0,4 1 0,-3 0 0,10 4 0,1-2 0,2 8 0,4-9 0,-5 10 0,4-10 0,-3 9 0,9-7 0,-4 7 0,6-4 0,-1 1 0,0 3 0,5-7 0,4 7 0,6-3 0,5 4 0,-1 0 0,1 0 0,-1 0 0,10 9 0,-2-2 0,15 8 0,4-3 0,1 0 0,5-1 0,-8 1 0,8 0 0,-12-1 0,11 1 0,-19-1 0,6 0 0,-7-1 0,-5 1 0,-2-1 0,-3-5 0,-6 3 0,3-2 0,-7 3 0,4 0 0,-9-3 0,-2-2 0,-8 0 0,-2 7 0,-6 0 0,-13 18 0,-34 10 0,13 3 0,12-16 0,1 0 0,-6 14 0,-18 1 0,19-8 0,-9 0 0,20-10 0,-5 1 0,13-7 0,2 0 0,11-7 0,1 0 0,5-5 0,5-9 0,1-13 0,4-18 0,0 4 0,0 7 0,0 14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36:07.9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371 9 21127,'-4'-5'0,"-19"1"1644,-2 4-1644,-25 6 0,7 6 0,-8 2 0,19-1 0,-7-2 583,15-5-583,-5 5 298,2 1-298,10-7 923,10 0-923,8-1 0,8 1 0,1 5 0,-1 3 0,-4-2 0,4 3 0,-4-5 0,0 1 0,4-6 0,-5 4 0,6-6 0,-1 6 0,6-3 0,0 6 0,13 5 0,0 2 0,7 5 0,2 7 0,-2-5 0,2 11 0,-1-11 0,-6 4 0,3-6 0,-10-7 0,0 5 0,-9-9 0,-4 2 0,0-4 0,-1 0 0,1-5 0,-5-1 0,0-4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36:06.2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1 174 18857,'24'5'0,"31"-1"0,21-4 0,-18 0 0,14 0 0,-5 0 0,12 0 0,7 0 0,-2 0 0,-7 0 0,-11 0 0,-7 0 0,2 0 0,6 0-430,3 0 1,9 0-1,3 0 1,0 0-1,-5 0 1,-10 0 429,8 0 0,-10 0 0,1 0-484,6 0 1,0 0 0,0 0 483,-3 0 0,0 0 0,-1 0 0,-3 0 0,-1 0 0,0 0 119,4 0 1,0 0-1,-5 0-119,0 0 0,-3 0-85,17 0 1,-2 0 84,-28 0 0,0 0 0,14 0 0,0 0 932,-19 0 1,-1 0-933,37 0 3223,-28 0-3223,-6 0 2199,-2 0-2199,-14 0 1859,0 4-1859,-1-2 410,2 8-410,6-4 0,-1 6 0,1-6 0,0 4 0,0-3 0,-1 0 0,-4 2 0,-3-2 0,-11-2 0,4 0 0,-10-5 0,5 0 0,-5 4 0,-1-3 0,6 3 0,-4-4 0,3 0 0,-3 0 0,-2 0 0,1 0 0,-1 0 0,-8-4 0,-2 0 0,-19-12 0,1-1 0,-7-5 0,-18-5 0,17 9 0,-37-14 0,31 17 0,-18-7 0,17 10 0,4 1 0,-3 0 0,10 4 0,1-2 0,2 8 0,4-9 0,-5 10 0,4-10 0,-3 9 0,9-7 0,-4 7 0,6-4 0,-1 1 0,0 3 0,5-7 0,4 7 0,6-3 0,5 4 0,-1 0 0,1 0 0,-1 0 0,10 9 0,-2-2 0,15 8 0,4-3 0,1 0 0,5-1 0,-8 1 0,8 0 0,-12-1 0,11 1 0,-19-1 0,6 0 0,-7-1 0,-5 1 0,-2-1 0,-3-5 0,-6 3 0,3-2 0,-7 3 0,4 0 0,-9-3 0,-2-2 0,-8 0 0,-2 7 0,-6 0 0,-13 18 0,-34 10 0,13 3 0,12-16 0,1 0 0,-6 14 0,-18 1 0,19-8 0,-9 0 0,20-10 0,-5 1 0,13-7 0,2 0 0,11-7 0,1 0 0,5-5 0,5-9 0,1-13 0,4-18 0,0 4 0,0 7 0,0 14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36:07.9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371 9 21127,'-4'-5'0,"-19"1"1644,-2 4-1644,-25 6 0,7 6 0,-8 2 0,19-1 0,-7-2 583,15-5-583,-5 5 298,2 1-298,10-7 923,10 0-923,8-1 0,8 1 0,1 5 0,-1 3 0,-4-2 0,4 3 0,-4-5 0,0 1 0,4-6 0,-5 4 0,6-6 0,-1 6 0,6-3 0,0 6 0,13 5 0,0 2 0,7 5 0,2 7 0,-2-5 0,2 11 0,-1-11 0,-6 4 0,3-6 0,-10-7 0,0 5 0,-9-9 0,-4 2 0,0-4 0,-1 0 0,1-5 0,-5-1 0,0-4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9:02:30.5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1 174 18857,'24'5'0,"31"-1"0,21-4 0,-18 0 0,14 0 0,-5 0 0,12 0 0,7 0 0,-2 0 0,-7 0 0,-11 0 0,-7 0 0,2 0 0,6 0-430,3 0 1,9 0-1,3 0 1,0 0-1,-5 0 1,-10 0 429,8 0 0,-10 0 0,1 0-484,6 0 1,0 0 0,0 0 483,-3 0 0,0 0 0,-1 0 0,-3 0 0,-1 0 0,0 0 119,4 0 1,0 0-1,-5 0-119,0 0 0,-3 0-85,17 0 1,-2 0 84,-28 0 0,0 0 0,14 0 0,0 0 932,-19 0 1,-1 0-933,37 0 3223,-28 0-3223,-6 0 2199,-2 0-2199,-14 0 1859,0 4-1859,-1-2 410,2 8-410,6-4 0,-1 6 0,1-6 0,0 4 0,0-3 0,-1 0 0,-4 2 0,-3-2 0,-11-2 0,4 0 0,-10-5 0,5 0 0,-5 4 0,-1-3 0,6 3 0,-4-4 0,3 0 0,-3 0 0,-2 0 0,1 0 0,-1 0 0,-8-4 0,-2 0 0,-19-12 0,1-1 0,-7-5 0,-18-5 0,17 9 0,-37-14 0,31 17 0,-18-7 0,17 10 0,4 1 0,-3 0 0,10 4 0,1-2 0,2 8 0,4-9 0,-5 10 0,4-10 0,-3 9 0,9-7 0,-4 7 0,6-4 0,-1 1 0,0 3 0,5-7 0,4 7 0,6-3 0,5 4 0,-1 0 0,1 0 0,-1 0 0,10 9 0,-2-2 0,15 8 0,4-3 0,1 0 0,5-1 0,-8 1 0,8 0 0,-12-1 0,11 1 0,-19-1 0,6 0 0,-7-1 0,-5 1 0,-2-1 0,-3-5 0,-6 3 0,3-2 0,-7 3 0,4 0 0,-9-3 0,-2-2 0,-8 0 0,-2 7 0,-6 0 0,-13 18 0,-34 10 0,13 3 0,12-16 0,1 0 0,-6 14 0,-18 1 0,19-8 0,-9 0 0,20-10 0,-5 1 0,13-7 0,2 0 0,11-7 0,1 0 0,5-5 0,5-9 0,1-13 0,4-18 0,0 4 0,0 7 0,0 14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9:02:30.5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371 9 21127,'-4'-5'0,"-19"1"1644,-2 4-1644,-25 6 0,7 6 0,-8 2 0,19-1 0,-7-2 583,15-5-583,-5 5 298,2 1-298,10-7 923,10 0-923,8-1 0,8 1 0,1 5 0,-1 3 0,-4-2 0,4 3 0,-4-5 0,0 1 0,4-6 0,-5 4 0,6-6 0,-1 6 0,6-3 0,0 6 0,13 5 0,0 2 0,7 5 0,2 7 0,-2-5 0,2 11 0,-1-11 0,-6 4 0,3-6 0,-10-7 0,0 5 0,-9-9 0,-4 2 0,0-4 0,-1 0 0,1-5 0,-5-1 0,0-4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36:06.2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1 174 18857,'24'5'0,"31"-1"0,21-4 0,-18 0 0,14 0 0,-5 0 0,12 0 0,7 0 0,-2 0 0,-7 0 0,-11 0 0,-7 0 0,2 0 0,6 0-430,3 0 1,9 0-1,3 0 1,0 0-1,-5 0 1,-10 0 429,8 0 0,-10 0 0,1 0-484,6 0 1,0 0 0,0 0 483,-3 0 0,0 0 0,-1 0 0,-3 0 0,-1 0 0,0 0 119,4 0 1,0 0-1,-5 0-119,0 0 0,-3 0-85,17 0 1,-2 0 84,-28 0 0,0 0 0,14 0 0,0 0 932,-19 0 1,-1 0-933,37 0 3223,-28 0-3223,-6 0 2199,-2 0-2199,-14 0 1859,0 4-1859,-1-2 410,2 8-410,6-4 0,-1 6 0,1-6 0,0 4 0,0-3 0,-1 0 0,-4 2 0,-3-2 0,-11-2 0,4 0 0,-10-5 0,5 0 0,-5 4 0,-1-3 0,6 3 0,-4-4 0,3 0 0,-3 0 0,-2 0 0,1 0 0,-1 0 0,-8-4 0,-2 0 0,-19-12 0,1-1 0,-7-5 0,-18-5 0,17 9 0,-37-14 0,31 17 0,-18-7 0,17 10 0,4 1 0,-3 0 0,10 4 0,1-2 0,2 8 0,4-9 0,-5 10 0,4-10 0,-3 9 0,9-7 0,-4 7 0,6-4 0,-1 1 0,0 3 0,5-7 0,4 7 0,6-3 0,5 4 0,-1 0 0,1 0 0,-1 0 0,10 9 0,-2-2 0,15 8 0,4-3 0,1 0 0,5-1 0,-8 1 0,8 0 0,-12-1 0,11 1 0,-19-1 0,6 0 0,-7-1 0,-5 1 0,-2-1 0,-3-5 0,-6 3 0,3-2 0,-7 3 0,4 0 0,-9-3 0,-2-2 0,-8 0 0,-2 7 0,-6 0 0,-13 18 0,-34 10 0,13 3 0,12-16 0,1 0 0,-6 14 0,-18 1 0,19-8 0,-9 0 0,20-10 0,-5 1 0,13-7 0,2 0 0,11-7 0,1 0 0,5-5 0,5-9 0,1-13 0,4-18 0,0 4 0,0 7 0,0 14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36:07.9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371 9 21127,'-4'-5'0,"-19"1"1644,-2 4-1644,-25 6 0,7 6 0,-8 2 0,19-1 0,-7-2 583,15-5-583,-5 5 298,2 1-298,10-7 923,10 0-923,8-1 0,8 1 0,1 5 0,-1 3 0,-4-2 0,4 3 0,-4-5 0,0 1 0,4-6 0,-5 4 0,6-6 0,-1 6 0,6-3 0,0 6 0,13 5 0,0 2 0,7 5 0,2 7 0,-2-5 0,2 11 0,-1-11 0,-6 4 0,3-6 0,-10-7 0,0 5 0,-9-9 0,-4 2 0,0-4 0,-1 0 0,1-5 0,-5-1 0,0-4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1A12B2-543B-054A-B0FB-B8BA892538F6}" type="datetimeFigureOut">
              <a:rPr lang="en-US" smtClean="0"/>
              <a:t>12/8/25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A570F5-392E-AB46-A727-55C7127115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401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 everyone, this problem closely to my work, where I try to build refactoring solutions to improve the quality of code. </a:t>
            </a:r>
          </a:p>
          <a:p>
            <a:endParaRPr lang="en-US" dirty="0"/>
          </a:p>
          <a:p>
            <a:r>
              <a:rPr lang="en-US" dirty="0" err="1"/>
              <a:t>Particulatly</a:t>
            </a:r>
            <a:r>
              <a:rPr lang="en-US" dirty="0"/>
              <a:t>, much of my work involves using LLMs, and checking their suggestions is crucial to ensure the correctness of changes -- because they hallucinate..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A570F5-392E-AB46-A727-55C7127115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8526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// Why is this problem important:</a:t>
            </a:r>
          </a:p>
          <a:p>
            <a:r>
              <a:rPr lang="en-US" dirty="0"/>
              <a:t>During software evolution and maintenance, code is often evolved to change non-functional properties, such as:</a:t>
            </a:r>
          </a:p>
          <a:p>
            <a:r>
              <a:rPr lang="en-US" dirty="0"/>
              <a:t> performance, library usage, version upgrade, changing design, using best-practice idioms. </a:t>
            </a:r>
          </a:p>
          <a:p>
            <a:endParaRPr lang="en-US" dirty="0"/>
          </a:p>
          <a:p>
            <a:r>
              <a:rPr lang="en-US" dirty="0"/>
              <a:t>The intention with these changes is to improve the software, without changing its underlying behavior. </a:t>
            </a:r>
          </a:p>
          <a:p>
            <a:endParaRPr lang="en-US" dirty="0"/>
          </a:p>
          <a:p>
            <a:r>
              <a:rPr lang="en-US" dirty="0"/>
              <a:t>While making such upgrades, it is crucial to check that the program’s semantics haven’t been changed to avoid unintentionally changing the behavior.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// What is equivalence checking?</a:t>
            </a:r>
          </a:p>
          <a:p>
            <a:r>
              <a:rPr lang="en-US" dirty="0"/>
              <a:t>This is the goal of automated equivalence checking:</a:t>
            </a:r>
          </a:p>
          <a:p>
            <a:r>
              <a:rPr lang="en-US" dirty="0"/>
              <a:t>To decide whether two programs are equivalent: for the same inputs, they produce the same outputs. </a:t>
            </a:r>
          </a:p>
          <a:p>
            <a:endParaRPr lang="en-US" dirty="0"/>
          </a:p>
          <a:p>
            <a:r>
              <a:rPr lang="en-US" dirty="0"/>
              <a:t>// In my opinion, this is a very challenging problem: as large scale systems have many complex components which are difficult to model, such as libraries, databases, etc.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A570F5-392E-AB46-A727-55C71271153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8787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EB5EE-D749-CBB3-6028-ADC613036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CAD21D-BCAC-41BE-7389-E12A78F0FD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48DEC5-443C-7762-5069-4C1EE89063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found many works that tackle this problem. Current SOTA of equivalence checking focuses on comparing two functions with the same signature. </a:t>
            </a:r>
          </a:p>
          <a:p>
            <a:endParaRPr lang="en-US" dirty="0"/>
          </a:p>
          <a:p>
            <a:r>
              <a:rPr lang="en-US" dirty="0"/>
              <a:t>Here’s an example. </a:t>
            </a:r>
          </a:p>
          <a:p>
            <a:endParaRPr lang="en-US" dirty="0"/>
          </a:p>
          <a:p>
            <a:r>
              <a:rPr lang="en-US" dirty="0"/>
              <a:t>This simple function computes the max of two integers. This function may be updated to use a shorthand ternary operator, instead of an if condition. </a:t>
            </a:r>
          </a:p>
          <a:p>
            <a:endParaRPr lang="en-US" dirty="0"/>
          </a:p>
          <a:p>
            <a:r>
              <a:rPr lang="en-US" dirty="0"/>
              <a:t>Prior techniques are able to reason about these two programs and deem them to be equivalent.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B5EADE-2958-F801-00A6-41151709EB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A570F5-392E-AB46-A727-55C71271153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1658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4D0CC-F796-B9D4-5BC0-2C4917F86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066014-89BA-D082-A50A-81CA6A5972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4A735C-164F-A2D1-35FA-88C961BA09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Here’s another example, where the semantics of `max` have been changed.</a:t>
            </a:r>
          </a:p>
          <a:p>
            <a:endParaRPr lang="en-US" dirty="0"/>
          </a:p>
          <a:p>
            <a:r>
              <a:rPr lang="en-US" dirty="0"/>
              <a:t>Here, the function returns 0, which is different from the original implementation.</a:t>
            </a:r>
          </a:p>
          <a:p>
            <a:endParaRPr lang="en-US" dirty="0"/>
          </a:p>
          <a:p>
            <a:r>
              <a:rPr lang="en-US" dirty="0"/>
              <a:t>Current SOTA techniques are able to detect and flag changes like these very well.</a:t>
            </a:r>
          </a:p>
          <a:p>
            <a:endParaRPr lang="en-US" dirty="0"/>
          </a:p>
          <a:p>
            <a:r>
              <a:rPr lang="en-US" dirty="0"/>
              <a:t>Let's take a look at how they work.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61233-6022-FA80-2143-882595E417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A570F5-392E-AB46-A727-55C71271153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342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17371-8A05-7636-2038-5EF35EA74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0A6422-2087-5247-6EA7-7257A5DE9D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F9AC52-BD7B-7E4A-E956-2B223F1A0E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// Current SOTA</a:t>
            </a:r>
          </a:p>
          <a:p>
            <a:endParaRPr lang="en-US" dirty="0"/>
          </a:p>
          <a:p>
            <a:r>
              <a:rPr lang="en-US" dirty="0"/>
              <a:t>Many techniques rely upon symbolic execution to check equivalence.</a:t>
            </a:r>
          </a:p>
          <a:p>
            <a:endParaRPr lang="en-US" dirty="0"/>
          </a:p>
          <a:p>
            <a:r>
              <a:rPr lang="en-US" dirty="0"/>
              <a:t>In particular, Differential symbolic execution (DSE) is a foundational technique to check for equivalence. </a:t>
            </a:r>
          </a:p>
          <a:p>
            <a:endParaRPr lang="en-US" dirty="0"/>
          </a:p>
          <a:p>
            <a:r>
              <a:rPr lang="en-US" dirty="0"/>
              <a:t>The idea is to execute both functions, in a symbolic fashion and generate a symbolic summary.  The symbolic summaries are essentially formulas representing the the functions (path condition and return value).</a:t>
            </a:r>
          </a:p>
          <a:p>
            <a:endParaRPr lang="en-US" dirty="0"/>
          </a:p>
          <a:p>
            <a:r>
              <a:rPr lang="en-US" dirty="0"/>
              <a:t>Checking equivalence boils down to checking that bi-implication of these formulas. This is done with the help of SMT solvers like Z3.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4A3096-7AEC-4B00-EE6B-C5EEAB77E2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A570F5-392E-AB46-A727-55C71271153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7678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1719D-1B17-F8EF-C370-85237EF05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36142A-FCB8-4FE5-6A98-0B24538825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E5022C-4640-86EC-55BF-8472D46C4D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However, lots of software evolution comes with small design/logic changes, such as changing a function’s signature. </a:t>
            </a:r>
          </a:p>
          <a:p>
            <a:endParaRPr lang="en-US" dirty="0"/>
          </a:p>
          <a:p>
            <a:r>
              <a:rPr lang="en-US" dirty="0"/>
              <a:t>Here’s an example, where a new parameter is introduced, extending the max function to compute max over the absolute value, when the flag is true. </a:t>
            </a:r>
          </a:p>
          <a:p>
            <a:endParaRPr lang="en-US" dirty="0"/>
          </a:p>
          <a:p>
            <a:r>
              <a:rPr lang="en-US" dirty="0"/>
              <a:t>These functions are non-equivalent by their nature of having different signatures. But --  if we provide the new argument correctly, the two functions have the same behavior. </a:t>
            </a:r>
          </a:p>
          <a:p>
            <a:endParaRPr lang="en-US" dirty="0"/>
          </a:p>
          <a:p>
            <a:r>
              <a:rPr lang="en-US" dirty="0"/>
              <a:t>In this case, setting the parameter absolute to false makes the two functions equivalent. </a:t>
            </a:r>
          </a:p>
          <a:p>
            <a:endParaRPr lang="en-US" dirty="0"/>
          </a:p>
          <a:p>
            <a:r>
              <a:rPr lang="en-US" dirty="0"/>
              <a:t>That is, there is a way to transform the parameters of the old function to the new, which results in equivalent behavior. </a:t>
            </a:r>
          </a:p>
          <a:p>
            <a:r>
              <a:rPr lang="en-US" dirty="0"/>
              <a:t>The intuition is – if you transformed all the call sites of the function in the specified way, the outputs would be the same.</a:t>
            </a:r>
          </a:p>
          <a:p>
            <a:endParaRPr lang="en-US" dirty="0"/>
          </a:p>
          <a:p>
            <a:r>
              <a:rPr lang="en-US" dirty="0"/>
              <a:t>Here, the value is a single constant, which has no dependencies on the other input parameters.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9884D9-0C8D-D0DA-1C52-81F04C108D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A570F5-392E-AB46-A727-55C71271153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0481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D927C-D2A3-A743-E090-76B2E7F54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A9CB92-839E-C4A4-B570-83741FF630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43E42B-C1F7-AC1B-CE38-7C8E1666D4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Here’s another possible extension to the max function. </a:t>
            </a:r>
          </a:p>
          <a:p>
            <a:endParaRPr lang="en-US" dirty="0"/>
          </a:p>
          <a:p>
            <a:r>
              <a:rPr lang="en-US" dirty="0"/>
              <a:t>the new function accepts a </a:t>
            </a:r>
            <a:r>
              <a:rPr lang="en-US" dirty="0" err="1"/>
              <a:t>defaultValue</a:t>
            </a:r>
            <a:r>
              <a:rPr lang="en-US" dirty="0"/>
              <a:t>, which is returned in case a and b are equal.</a:t>
            </a:r>
          </a:p>
          <a:p>
            <a:endParaRPr lang="en-US" dirty="0"/>
          </a:p>
          <a:p>
            <a:r>
              <a:rPr lang="en-US" dirty="0"/>
              <a:t>Here, if we set the </a:t>
            </a:r>
            <a:r>
              <a:rPr lang="en-US" dirty="0" err="1"/>
              <a:t>defaultValue</a:t>
            </a:r>
            <a:r>
              <a:rPr lang="en-US" dirty="0"/>
              <a:t> to `a`, the two functions become equivalent. Here, the </a:t>
            </a:r>
            <a:r>
              <a:rPr lang="en-US" dirty="0" err="1"/>
              <a:t>defaultValue</a:t>
            </a:r>
            <a:r>
              <a:rPr lang="en-US" dirty="0"/>
              <a:t> is dependent on one the input parameters.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To extend the notion of equivalence, the idea is to transform the arguments of the old function to make them compatible with the new one.</a:t>
            </a:r>
          </a:p>
          <a:p>
            <a:endParaRPr lang="en-US" dirty="0"/>
          </a:p>
          <a:p>
            <a:r>
              <a:rPr lang="en-US" dirty="0"/>
              <a:t>In this case, when a new parameter is added, it is a sort of fill in the blank problem.</a:t>
            </a:r>
          </a:p>
          <a:p>
            <a:endParaRPr lang="en-US" dirty="0"/>
          </a:p>
          <a:p>
            <a:r>
              <a:rPr lang="en-US" dirty="0"/>
              <a:t>I.e., find the value of "absolute" such that the behavior of the two functions is the same.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ABA63A-C4BD-6DE9-7EAB-8F9FAF2518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A570F5-392E-AB46-A727-55C71271153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7903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// Extension of existing techniques</a:t>
            </a:r>
          </a:p>
          <a:p>
            <a:endParaRPr lang="en-US" dirty="0"/>
          </a:p>
          <a:p>
            <a:r>
              <a:rPr lang="en-US" dirty="0"/>
              <a:t>To extend the notion of equivalence, the idea is to transform the arguments of the old function to make them compatible with the new one.</a:t>
            </a:r>
          </a:p>
          <a:p>
            <a:endParaRPr lang="en-US" dirty="0"/>
          </a:p>
          <a:p>
            <a:r>
              <a:rPr lang="en-US" dirty="0"/>
              <a:t>In this case, when a new parameter is added, it is a sort of fill in the blank problem.</a:t>
            </a:r>
          </a:p>
          <a:p>
            <a:endParaRPr lang="en-US" dirty="0"/>
          </a:p>
          <a:p>
            <a:r>
              <a:rPr lang="en-US" dirty="0"/>
              <a:t>I.e., find the value of "absolute" such that the behavior of the two functions is the same.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A570F5-392E-AB46-A727-55C71271153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6046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// Current SOTA</a:t>
            </a:r>
          </a:p>
          <a:p>
            <a:r>
              <a:rPr lang="en-US" dirty="0"/>
              <a:t>We can extend the DSE algorithm by letting the SMT solver to come up with a transformation function for the input arguments.</a:t>
            </a:r>
          </a:p>
          <a:p>
            <a:endParaRPr lang="en-US" dirty="0"/>
          </a:p>
          <a:p>
            <a:r>
              <a:rPr lang="en-US" dirty="0"/>
              <a:t>The transformation function is left as an uninterpreted function, which Z3 solves for.</a:t>
            </a:r>
          </a:p>
          <a:p>
            <a:endParaRPr lang="en-US" dirty="0"/>
          </a:p>
          <a:p>
            <a:r>
              <a:rPr lang="en-US" dirty="0"/>
              <a:t>This technique works well, when the input transformation can be achieved by yielding a constant value, or a simple transformation over the inputs.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A570F5-392E-AB46-A727-55C71271153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3619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CAEC2-03CE-963F-A1CC-EA89AF11C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C0932B-16EC-0B3A-18B8-DAEC8FD344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088391-871D-9ABD-629E-CE6B43CACC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However, SMT solvers like Z3 struggle</a:t>
            </a:r>
          </a:p>
          <a:p>
            <a:endParaRPr lang="en-US" dirty="0"/>
          </a:p>
          <a:p>
            <a:r>
              <a:rPr lang="en-US" dirty="0"/>
              <a:t>Here’s another possible extension to the max function. </a:t>
            </a:r>
          </a:p>
          <a:p>
            <a:endParaRPr lang="en-US" dirty="0"/>
          </a:p>
          <a:p>
            <a:r>
              <a:rPr lang="en-US" dirty="0"/>
              <a:t>the new function accepts a </a:t>
            </a:r>
            <a:r>
              <a:rPr lang="en-US" dirty="0" err="1"/>
              <a:t>defaultValue</a:t>
            </a:r>
            <a:r>
              <a:rPr lang="en-US" dirty="0"/>
              <a:t>, which is returned in case a and b are equal.</a:t>
            </a:r>
          </a:p>
          <a:p>
            <a:endParaRPr lang="en-US" dirty="0"/>
          </a:p>
          <a:p>
            <a:r>
              <a:rPr lang="en-US" dirty="0"/>
              <a:t>Here, if we set the </a:t>
            </a:r>
            <a:r>
              <a:rPr lang="en-US" dirty="0" err="1"/>
              <a:t>defaultValue</a:t>
            </a:r>
            <a:r>
              <a:rPr lang="en-US" dirty="0"/>
              <a:t> to `a`, the two functions become equivalent.</a:t>
            </a:r>
          </a:p>
          <a:p>
            <a:endParaRPr lang="en-US" dirty="0"/>
          </a:p>
          <a:p>
            <a:r>
              <a:rPr lang="en-US" dirty="0"/>
              <a:t>Here, the </a:t>
            </a:r>
            <a:r>
              <a:rPr lang="en-US" dirty="0" err="1"/>
              <a:t>defaultValue</a:t>
            </a:r>
            <a:r>
              <a:rPr lang="en-US" dirty="0"/>
              <a:t> is dependent on the input parameters.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1F9185-F0A9-94C4-2448-D4BA43D18C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A570F5-392E-AB46-A727-55C71271153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4638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A570F5-392E-AB46-A727-55C71271153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9900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A570F5-392E-AB46-A727-55C71271153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4175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0E1A5-AF74-95D2-4C4B-C9DB7DCFB1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56F0FF-6DF8-9AE6-A29C-C3C47B7475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B97A85-F013-DF80-9327-D851996D1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90689-9B0F-0D41-8505-D7E3AB231278}" type="datetime1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DAC66C-834D-10F7-06C9-39BC85546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048A5-30AD-38ED-514A-8C8F280CB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52BE5-CB5B-EF4A-AB81-049ED835B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315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FE232-7734-859D-D410-5F368A062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184B61-9252-8959-2477-92130455F3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E652F-EDC4-56AB-76F8-7B96DB888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10C16-4A24-764B-BD28-6CE8292E3FC8}" type="datetime1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BCBC3F-DB15-54DE-8A8E-3C42A3871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C2A87A-D496-3F95-D05C-429BA0B27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52BE5-CB5B-EF4A-AB81-049ED835B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467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38674-F9C0-12D7-4929-BE1BB1034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B68214-79DA-F50D-5D80-9D8BD20588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309BD3-F976-D6EF-F44E-581E3CE51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85556-CB03-F34F-B959-953C4FF9A4E5}" type="datetime1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3D2E39-CB97-B2AD-3808-74C66EC2B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ED2621-207F-4BCE-CBD2-43DEEFE96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52BE5-CB5B-EF4A-AB81-049ED835B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815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458DD-FB09-2C9E-B393-BA2062DC9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F37A3C-5F29-46BC-6F98-251FB2CB4A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957DEA-A3FB-99C0-F44F-AEB64001EA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D1CC96-4A3C-5393-7733-09E7A641C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FC8B4-CC73-4A42-B348-1C4DAED72591}" type="datetime1">
              <a:rPr lang="en-US" smtClean="0"/>
              <a:t>12/9/25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FAD34B-1437-D156-1406-5715D23F2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21DA93-677F-E9AB-7899-FCF8BCFCE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52BE5-CB5B-EF4A-AB81-049ED835B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913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FDA2B-5D38-99A7-BCC8-40B2EB6BA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1D0F62-B4C5-F251-1AD5-C9063A8B93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FABFC2-1E56-298A-CA9A-008EF913DC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1D1F09-C293-3E7C-B37C-8759532012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736793-3C75-799B-9A43-0149A4FB3F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BD45D8-A349-5537-7905-6E2103537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1EE50-05DB-694A-B737-8E77EAA72ED4}" type="datetime1">
              <a:rPr lang="en-US" smtClean="0"/>
              <a:t>12/9/25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D3A7F3-6ACF-BD01-8DF9-A973A196D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884828-E605-553B-CBED-DAEE39067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52BE5-CB5B-EF4A-AB81-049ED835B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861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A007A-E14B-2379-EFEF-8395DEE5D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0B54DE-3C34-A2C8-2D9A-9E8C82C1D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6361E-B360-9849-9A2B-2614595F0330}" type="datetime1">
              <a:rPr lang="en-US" smtClean="0"/>
              <a:t>12/9/25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5AD14C-F5EB-205C-E91D-B227F2154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4F604E-0B84-B498-87B6-AA423E441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52BE5-CB5B-EF4A-AB81-049ED835B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246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E1FB49-DCD6-7810-52EA-60A40D8E1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40C14C-CCE0-B94F-94FD-7C5C184A023D}" type="datetime1">
              <a:rPr lang="en-US" smtClean="0"/>
              <a:t>12/9/25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176457-DDC6-6C55-FC10-0F52309F2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123DFA-433C-F4CE-99AC-E30758509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52BE5-CB5B-EF4A-AB81-049ED835B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770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ED315-9ABD-64D7-8B4E-040CF932B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994239-400F-7AEC-EF8F-70584503D1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BC9C2A-6FE8-6C67-C3D6-0A757C30EE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836BBA-95D1-6026-BEA4-928770E01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7E56A-A504-5344-BA7E-B6BBBA6BB886}" type="datetime1">
              <a:rPr lang="en-US" smtClean="0"/>
              <a:t>12/9/25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F5F9B5-5EF2-5D49-395C-95826FC23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C593AA-1FD7-7646-48DF-491F9F7CE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52BE5-CB5B-EF4A-AB81-049ED835B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220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D84A7-DE72-019A-BAEF-11529866A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128193-A45A-0429-75B8-B1524504B8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6F0670-AA9C-7525-B794-225D83B51B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7180D7-10A9-EF6B-A097-A924A4A2B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4EB4B-E69E-EE47-ADA3-7C793123D066}" type="datetime1">
              <a:rPr lang="en-US" smtClean="0"/>
              <a:t>12/9/25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D64852-B0F7-DDB0-D1CC-CB51877E5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5021A4-F75B-EEAC-83FE-9B0495608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52BE5-CB5B-EF4A-AB81-049ED835B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678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2EAA5-5B8D-E0A6-291A-200DA508C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42055F-2891-C33A-26C1-318539F98B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525413-2280-52EC-FAB4-6D6C05250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B2273-E490-214D-923C-B4714002BADE}" type="datetime1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C96F39-1DF3-D7E6-24B6-B8C49C6F5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B42F01-DB26-19F8-1B39-A65480A0A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52BE5-CB5B-EF4A-AB81-049ED835B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599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0BBBB5-4D5B-8A9C-4B66-2EC6E4BCEF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53EBB8-FBE9-B555-1F3A-C015913B5A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0E5D78-A275-F4EB-BA0E-D7CE9A0F4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1BD323-EA36-AC4B-B3AF-1EFD4AF7C638}" type="datetime1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6307E2-B5A2-58B0-BA7B-CC6762B26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1D860B-EF41-AE56-7ACA-E46EB6D71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52BE5-CB5B-EF4A-AB81-049ED835B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390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F17A45-E1AC-CA90-E751-0D6A0C597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6BACE8-9514-F249-4B5B-00D52DB189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DDEC65-436A-E1CC-A1E5-7C2748936F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956FB8-C534-D74F-9574-36F6CD263433}" type="datetime1">
              <a:rPr lang="en-US" smtClean="0"/>
              <a:t>12/9/25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38D6E-91EA-EF2F-4F4C-44FC3584E9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C38F95-70A0-DDDB-6CE8-0A44CCF848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752BE5-CB5B-EF4A-AB81-049ED835B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779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1.png"/><Relationship Id="rId7" Type="http://schemas.openxmlformats.org/officeDocument/2006/relationships/customXml" Target="../ink/ink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customXml" Target="../ink/ink1.xml"/><Relationship Id="rId4" Type="http://schemas.openxmlformats.org/officeDocument/2006/relationships/image" Target="../media/image12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customXml" Target="../ink/ink3.xml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customXml" Target="../ink/ink4.xml"/><Relationship Id="rId10" Type="http://schemas.openxmlformats.org/officeDocument/2006/relationships/image" Target="../media/image20.svg"/><Relationship Id="rId4" Type="http://schemas.openxmlformats.org/officeDocument/2006/relationships/image" Target="../media/image15.png"/><Relationship Id="rId9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customXml" Target="../ink/ink5.xml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customXml" Target="../ink/ink6.xml"/><Relationship Id="rId10" Type="http://schemas.openxmlformats.org/officeDocument/2006/relationships/image" Target="../media/image20.svg"/><Relationship Id="rId4" Type="http://schemas.openxmlformats.org/officeDocument/2006/relationships/image" Target="../media/image21.png"/><Relationship Id="rId9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customXml" Target="../ink/ink7.xml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customXml" Target="../ink/ink8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customXml" Target="../ink/ink9.xml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customXml" Target="../ink/ink10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68EF8-FCAD-5D60-5811-D51A4EEDC8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Semantic Equivalence Checking for Design-Level Refactorings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1264EC-D493-BF1C-AB2F-CA6D596BEA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Abhiram Bellur</a:t>
            </a:r>
          </a:p>
          <a:p>
            <a:r>
              <a:rPr lang="en-US" dirty="0"/>
              <a:t>12/9/2025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26B5F2-9AFA-8346-BB5C-5408F0558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52BE5-CB5B-EF4A-AB81-049ED835B54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9288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E58C7-44E6-5D3E-AC15-DE0005337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Evolution</a:t>
            </a:r>
          </a:p>
        </p:txBody>
      </p:sp>
      <p:pic>
        <p:nvPicPr>
          <p:cNvPr id="36" name="Content Placeholder 35" descr="Gauge with solid fill">
            <a:extLst>
              <a:ext uri="{FF2B5EF4-FFF2-40B4-BE49-F238E27FC236}">
                <a16:creationId xmlns:a16="http://schemas.microsoft.com/office/drawing/2014/main" id="{0C347113-C7C9-2E4F-60BA-5FA1C83CB8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95972" y="3901527"/>
            <a:ext cx="914400" cy="914400"/>
          </a:xfrm>
        </p:spPr>
      </p:pic>
      <p:pic>
        <p:nvPicPr>
          <p:cNvPr id="38" name="Graphic 37" descr="Cmd Terminal outline">
            <a:extLst>
              <a:ext uri="{FF2B5EF4-FFF2-40B4-BE49-F238E27FC236}">
                <a16:creationId xmlns:a16="http://schemas.microsoft.com/office/drawing/2014/main" id="{C28A89C5-E8F0-851A-46CB-1688D4F8D68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03175" y="2389404"/>
            <a:ext cx="2663688" cy="2663688"/>
          </a:xfrm>
          <a:prstGeom prst="rect">
            <a:avLst/>
          </a:prstGeom>
        </p:spPr>
      </p:pic>
      <p:pic>
        <p:nvPicPr>
          <p:cNvPr id="39" name="Graphic 38" descr="Cmd Terminal outline">
            <a:extLst>
              <a:ext uri="{FF2B5EF4-FFF2-40B4-BE49-F238E27FC236}">
                <a16:creationId xmlns:a16="http://schemas.microsoft.com/office/drawing/2014/main" id="{C16BAEE1-4098-A17E-A9F5-9A382A778E3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74172" y="2457046"/>
            <a:ext cx="2382133" cy="2382133"/>
          </a:xfrm>
          <a:prstGeom prst="rect">
            <a:avLst/>
          </a:prstGeom>
        </p:spPr>
      </p:pic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0C76010-AF8D-B141-933B-89336854D857}"/>
              </a:ext>
            </a:extLst>
          </p:cNvPr>
          <p:cNvCxnSpPr>
            <a:cxnSpLocks/>
          </p:cNvCxnSpPr>
          <p:nvPr/>
        </p:nvCxnSpPr>
        <p:spPr>
          <a:xfrm>
            <a:off x="3976577" y="3511682"/>
            <a:ext cx="366059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3" name="Graphic 42" descr="Arrow circle with solid fill">
            <a:extLst>
              <a:ext uri="{FF2B5EF4-FFF2-40B4-BE49-F238E27FC236}">
                <a16:creationId xmlns:a16="http://schemas.microsoft.com/office/drawing/2014/main" id="{DBA0882F-0C46-34E3-63E8-34C9FB47C7A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619307" y="4009500"/>
            <a:ext cx="914400" cy="914400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6D818C95-9346-1B0F-5FC5-0D344F34BB72}"/>
              </a:ext>
            </a:extLst>
          </p:cNvPr>
          <p:cNvSpPr txBox="1"/>
          <p:nvPr/>
        </p:nvSpPr>
        <p:spPr>
          <a:xfrm>
            <a:off x="4263092" y="4949300"/>
            <a:ext cx="30344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Performance</a:t>
            </a:r>
          </a:p>
          <a:p>
            <a:pPr marL="285750" indent="-285750">
              <a:buFontTx/>
              <a:buChar char="-"/>
            </a:pPr>
            <a:r>
              <a:rPr lang="en-US" dirty="0"/>
              <a:t>Upgrading library versions</a:t>
            </a:r>
          </a:p>
          <a:p>
            <a:pPr marL="285750" indent="-285750">
              <a:buFontTx/>
              <a:buChar char="-"/>
            </a:pPr>
            <a:r>
              <a:rPr lang="en-US" dirty="0"/>
              <a:t>Best practices</a:t>
            </a:r>
          </a:p>
          <a:p>
            <a:pPr marL="285750" indent="-285750">
              <a:buFontTx/>
              <a:buChar char="-"/>
            </a:pPr>
            <a:r>
              <a:rPr lang="en-US" dirty="0"/>
              <a:t>Design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90BCC7F-6180-D76F-3ADB-BBC1B775D7B8}"/>
              </a:ext>
            </a:extLst>
          </p:cNvPr>
          <p:cNvSpPr txBox="1"/>
          <p:nvPr/>
        </p:nvSpPr>
        <p:spPr>
          <a:xfrm>
            <a:off x="1660622" y="4579968"/>
            <a:ext cx="1422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Old Program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EA43A1C-A47B-1636-3719-0C53DE74B152}"/>
              </a:ext>
            </a:extLst>
          </p:cNvPr>
          <p:cNvSpPr txBox="1"/>
          <p:nvPr/>
        </p:nvSpPr>
        <p:spPr>
          <a:xfrm>
            <a:off x="8214370" y="4631261"/>
            <a:ext cx="1517082" cy="3693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New Program</a:t>
            </a:r>
          </a:p>
        </p:txBody>
      </p:sp>
      <p:pic>
        <p:nvPicPr>
          <p:cNvPr id="51" name="Graphic 50" descr="Adhesive Bandage outline">
            <a:extLst>
              <a:ext uri="{FF2B5EF4-FFF2-40B4-BE49-F238E27FC236}">
                <a16:creationId xmlns:a16="http://schemas.microsoft.com/office/drawing/2014/main" id="{27A53E3F-4CB6-CD8F-9CEF-6721E5FB45C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593477" y="3429000"/>
            <a:ext cx="914400" cy="914400"/>
          </a:xfrm>
          <a:prstGeom prst="rect">
            <a:avLst/>
          </a:prstGeom>
        </p:spPr>
      </p:pic>
      <p:sp>
        <p:nvSpPr>
          <p:cNvPr id="53" name="Slide Number Placeholder 52">
            <a:extLst>
              <a:ext uri="{FF2B5EF4-FFF2-40B4-BE49-F238E27FC236}">
                <a16:creationId xmlns:a16="http://schemas.microsoft.com/office/drawing/2014/main" id="{BA331CB1-D36B-CD6D-52C3-596496199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52BE5-CB5B-EF4A-AB81-049ED835B54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7378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7A503-701C-A3F8-D353-46C8812AD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44E64-861C-45AE-FE9C-554C89942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Equivalence Checking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C68B3-541F-2ACA-E234-5C3CB2EC0B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9733" y="1276880"/>
            <a:ext cx="10515600" cy="1649520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Functions with the same signature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88835DCB-0007-8BF9-41CC-7A6E54EF5283}"/>
              </a:ext>
            </a:extLst>
          </p:cNvPr>
          <p:cNvSpPr txBox="1">
            <a:spLocks/>
          </p:cNvSpPr>
          <p:nvPr/>
        </p:nvSpPr>
        <p:spPr>
          <a:xfrm>
            <a:off x="1210734" y="2602443"/>
            <a:ext cx="3406993" cy="229060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</a:rPr>
              <a:t>int max(int a, int b)</a:t>
            </a:r>
          </a:p>
          <a:p>
            <a:pPr marL="0" indent="0">
              <a:buNone/>
            </a:pPr>
            <a:r>
              <a:rPr lang="en-US" dirty="0"/>
              <a:t>{</a:t>
            </a:r>
            <a:br>
              <a:rPr lang="en-US" dirty="0"/>
            </a:br>
            <a:r>
              <a:rPr lang="en-US" dirty="0"/>
              <a:t>    if (a&gt;b) return a;</a:t>
            </a:r>
          </a:p>
          <a:p>
            <a:pPr marL="0" indent="0">
              <a:buNone/>
            </a:pPr>
            <a:r>
              <a:rPr lang="en-US" dirty="0"/>
              <a:t>    else return b;</a:t>
            </a:r>
            <a:br>
              <a:rPr lang="en-US" dirty="0"/>
            </a:b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14338844-4346-205D-8932-37585C62131D}"/>
              </a:ext>
            </a:extLst>
          </p:cNvPr>
          <p:cNvSpPr txBox="1">
            <a:spLocks/>
          </p:cNvSpPr>
          <p:nvPr/>
        </p:nvSpPr>
        <p:spPr>
          <a:xfrm>
            <a:off x="6968066" y="2602444"/>
            <a:ext cx="3406993" cy="20011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</a:rPr>
              <a:t>int max(int a, int b)</a:t>
            </a:r>
          </a:p>
          <a:p>
            <a:pPr marL="0" indent="0">
              <a:buNone/>
            </a:pPr>
            <a:r>
              <a:rPr lang="en-US" dirty="0"/>
              <a:t>{</a:t>
            </a:r>
            <a:br>
              <a:rPr lang="en-US" dirty="0"/>
            </a:br>
            <a:r>
              <a:rPr lang="en-US" dirty="0"/>
              <a:t>    return a&gt;</a:t>
            </a:r>
            <a:r>
              <a:rPr lang="en-US" dirty="0" err="1"/>
              <a:t>b?a:b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5B2BE1B-3E36-CFDF-29CE-83037CA7A24B}"/>
              </a:ext>
            </a:extLst>
          </p:cNvPr>
          <p:cNvCxnSpPr/>
          <p:nvPr/>
        </p:nvCxnSpPr>
        <p:spPr>
          <a:xfrm>
            <a:off x="4890977" y="3429000"/>
            <a:ext cx="178627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BE3C08B0-74ED-9114-14F3-50E6B0F04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52BE5-CB5B-EF4A-AB81-049ED835B54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157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5F96A4-50E6-352E-F6CF-719066A77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E86B9-44FE-50FA-A87F-2615FE88E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Equivalence Checking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BD101E01-C2CF-C51A-9388-A555BF75B0C1}"/>
              </a:ext>
            </a:extLst>
          </p:cNvPr>
          <p:cNvSpPr txBox="1">
            <a:spLocks/>
          </p:cNvSpPr>
          <p:nvPr/>
        </p:nvSpPr>
        <p:spPr>
          <a:xfrm>
            <a:off x="1109134" y="2610030"/>
            <a:ext cx="3406993" cy="20011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int max(int a, int b)</a:t>
            </a:r>
          </a:p>
          <a:p>
            <a:pPr marL="0" indent="0">
              <a:buNone/>
            </a:pPr>
            <a:r>
              <a:rPr lang="en-US" dirty="0"/>
              <a:t>{</a:t>
            </a:r>
            <a:br>
              <a:rPr lang="en-US" dirty="0"/>
            </a:br>
            <a:r>
              <a:rPr lang="en-US" dirty="0"/>
              <a:t>    return a&gt;b? </a:t>
            </a:r>
            <a:r>
              <a:rPr lang="en-US" dirty="0" err="1"/>
              <a:t>a:b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77A88B11-78D3-F315-F545-C8ECD64C5788}"/>
              </a:ext>
            </a:extLst>
          </p:cNvPr>
          <p:cNvSpPr txBox="1">
            <a:spLocks/>
          </p:cNvSpPr>
          <p:nvPr/>
        </p:nvSpPr>
        <p:spPr>
          <a:xfrm>
            <a:off x="6866466" y="2610030"/>
            <a:ext cx="3406993" cy="20011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int max(int a, int b)</a:t>
            </a:r>
          </a:p>
          <a:p>
            <a:pPr marL="0" indent="0">
              <a:buNone/>
            </a:pPr>
            <a:r>
              <a:rPr lang="en-US" dirty="0"/>
              <a:t>{</a:t>
            </a:r>
            <a:br>
              <a:rPr lang="en-US" dirty="0"/>
            </a:br>
            <a:r>
              <a:rPr lang="en-US" dirty="0"/>
              <a:t>    return a&gt;b? a:</a:t>
            </a:r>
            <a:r>
              <a:rPr lang="en-US" u="sng" dirty="0">
                <a:solidFill>
                  <a:srgbClr val="FF0000"/>
                </a:solidFill>
              </a:rPr>
              <a:t>0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C8A249D-43E5-E1CB-FD73-B86E12C06617}"/>
              </a:ext>
            </a:extLst>
          </p:cNvPr>
          <p:cNvCxnSpPr>
            <a:cxnSpLocks/>
          </p:cNvCxnSpPr>
          <p:nvPr/>
        </p:nvCxnSpPr>
        <p:spPr>
          <a:xfrm>
            <a:off x="4848447" y="3636336"/>
            <a:ext cx="176500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6B74D9-4EFE-4731-D7B0-F2108D88E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52BE5-CB5B-EF4A-AB81-049ED835B54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581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FB56F-74F4-7E6D-0903-56782662D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19090-B49D-B2BC-BB29-C8502C7A0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Differential Symbolic Execution (DSE)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5D3FC-0B95-4B2E-B43A-8D1D934F3B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4256" y="1515797"/>
            <a:ext cx="10515600" cy="84007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Equivalence checking technique</a:t>
            </a:r>
          </a:p>
        </p:txBody>
      </p:sp>
      <p:pic>
        <p:nvPicPr>
          <p:cNvPr id="7" name="Graphic 6" descr="Document with solid fill">
            <a:extLst>
              <a:ext uri="{FF2B5EF4-FFF2-40B4-BE49-F238E27FC236}">
                <a16:creationId xmlns:a16="http://schemas.microsoft.com/office/drawing/2014/main" id="{DD620F1E-14D3-8958-B0FC-5825FAAF66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73014" y="2766043"/>
            <a:ext cx="914400" cy="914400"/>
          </a:xfrm>
          <a:prstGeom prst="rect">
            <a:avLst/>
          </a:prstGeom>
        </p:spPr>
      </p:pic>
      <p:pic>
        <p:nvPicPr>
          <p:cNvPr id="8" name="Graphic 7" descr="Document with solid fill">
            <a:extLst>
              <a:ext uri="{FF2B5EF4-FFF2-40B4-BE49-F238E27FC236}">
                <a16:creationId xmlns:a16="http://schemas.microsoft.com/office/drawing/2014/main" id="{D316456D-BD63-C74C-7C92-D67741BEDB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81684" y="2839360"/>
            <a:ext cx="914400" cy="914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45D8362-2DD2-56D8-76EC-7080CFB5FC9B}"/>
              </a:ext>
            </a:extLst>
          </p:cNvPr>
          <p:cNvSpPr txBox="1"/>
          <p:nvPr/>
        </p:nvSpPr>
        <p:spPr>
          <a:xfrm>
            <a:off x="2765149" y="3764226"/>
            <a:ext cx="1598579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 err="1"/>
              <a:t>FunctionA</a:t>
            </a:r>
            <a:endParaRPr lang="en-US" sz="25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1B68D0-44A0-B14A-DFA5-D9309DFE9FC8}"/>
              </a:ext>
            </a:extLst>
          </p:cNvPr>
          <p:cNvSpPr txBox="1"/>
          <p:nvPr/>
        </p:nvSpPr>
        <p:spPr>
          <a:xfrm>
            <a:off x="7150760" y="3730267"/>
            <a:ext cx="160338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 err="1"/>
              <a:t>FunctionB</a:t>
            </a:r>
            <a:endParaRPr lang="en-US" sz="25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429F47-18BC-07F6-91CE-984EE7F02C7E}"/>
              </a:ext>
            </a:extLst>
          </p:cNvPr>
          <p:cNvSpPr txBox="1"/>
          <p:nvPr/>
        </p:nvSpPr>
        <p:spPr>
          <a:xfrm>
            <a:off x="2625400" y="4822457"/>
            <a:ext cx="2028569" cy="4770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500" dirty="0"/>
              <a:t>a&gt;b ^ </a:t>
            </a:r>
            <a:r>
              <a:rPr lang="en-US" sz="2500" dirty="0">
                <a:highlight>
                  <a:srgbClr val="FFFF00"/>
                </a:highlight>
              </a:rPr>
              <a:t>ret == 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6C5271-8F22-0773-379D-0EE528B966FC}"/>
              </a:ext>
            </a:extLst>
          </p:cNvPr>
          <p:cNvSpPr txBox="1"/>
          <p:nvPr/>
        </p:nvSpPr>
        <p:spPr>
          <a:xfrm>
            <a:off x="6815129" y="4798406"/>
            <a:ext cx="2030171" cy="4770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500" dirty="0"/>
              <a:t>a&gt;b ^ </a:t>
            </a:r>
            <a:r>
              <a:rPr lang="en-US" sz="2500" dirty="0">
                <a:solidFill>
                  <a:srgbClr val="FF0000"/>
                </a:solidFill>
                <a:highlight>
                  <a:srgbClr val="FFFF00"/>
                </a:highlight>
              </a:rPr>
              <a:t>ret == 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D5A963-B19E-749C-B1CA-8476D07F3A17}"/>
              </a:ext>
            </a:extLst>
          </p:cNvPr>
          <p:cNvSpPr txBox="1"/>
          <p:nvPr/>
        </p:nvSpPr>
        <p:spPr>
          <a:xfrm>
            <a:off x="2318043" y="5327110"/>
            <a:ext cx="2844881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/>
              <a:t>Symbolic summary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E9ABFC-83A8-28FC-731B-83813C8B5B73}"/>
              </a:ext>
            </a:extLst>
          </p:cNvPr>
          <p:cNvSpPr txBox="1"/>
          <p:nvPr/>
        </p:nvSpPr>
        <p:spPr>
          <a:xfrm>
            <a:off x="6530013" y="5342089"/>
            <a:ext cx="2844881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/>
              <a:t>Symbolic summary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30B46947-7BDD-ECC7-3461-34B85AEFB7D3}"/>
                  </a:ext>
                </a:extLst>
              </p14:cNvPr>
              <p14:cNvContentPartPr/>
              <p14:nvPr/>
            </p14:nvContentPartPr>
            <p14:xfrm>
              <a:off x="3538884" y="4251746"/>
              <a:ext cx="201600" cy="58032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30B46947-7BDD-ECC7-3461-34B85AEFB7D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532764" y="4245626"/>
                <a:ext cx="213840" cy="59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F1AC7ED1-4A10-25E4-C17F-1B8D208856AB}"/>
                  </a:ext>
                </a:extLst>
              </p14:cNvPr>
              <p14:cNvContentPartPr/>
              <p14:nvPr/>
            </p14:nvContentPartPr>
            <p14:xfrm>
              <a:off x="7741835" y="4049961"/>
              <a:ext cx="176760" cy="72324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F1AC7ED1-4A10-25E4-C17F-1B8D208856A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735715" y="4043841"/>
                <a:ext cx="189000" cy="735480"/>
              </a:xfrm>
              <a:prstGeom prst="rect">
                <a:avLst/>
              </a:prstGeom>
            </p:spPr>
          </p:pic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F86F571-352D-2DA1-52B5-495D0CDCFD8F}"/>
              </a:ext>
            </a:extLst>
          </p:cNvPr>
          <p:cNvCxnSpPr>
            <a:cxnSpLocks/>
          </p:cNvCxnSpPr>
          <p:nvPr/>
        </p:nvCxnSpPr>
        <p:spPr>
          <a:xfrm>
            <a:off x="5376872" y="5060984"/>
            <a:ext cx="71518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BE4F1780-E1FD-1F03-723F-397782A34764}"/>
              </a:ext>
            </a:extLst>
          </p:cNvPr>
          <p:cNvSpPr txBox="1"/>
          <p:nvPr/>
        </p:nvSpPr>
        <p:spPr>
          <a:xfrm>
            <a:off x="9870141" y="6123543"/>
            <a:ext cx="1949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Person et al. 2008</a:t>
            </a:r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1D24167E-CE36-297F-52B4-F58A72B96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52BE5-CB5B-EF4A-AB81-049ED835B54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402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89C70-A1CE-12A2-3BCE-E5AB2D3C7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2C95C-6EE2-C1DC-8537-AECC3722D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Equivalence Checking - 1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496BDFBE-90EE-48E6-BE93-5AEB97781B51}"/>
              </a:ext>
            </a:extLst>
          </p:cNvPr>
          <p:cNvSpPr txBox="1">
            <a:spLocks/>
          </p:cNvSpPr>
          <p:nvPr/>
        </p:nvSpPr>
        <p:spPr>
          <a:xfrm>
            <a:off x="838200" y="2274513"/>
            <a:ext cx="3406993" cy="20011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int max(int a, int b)</a:t>
            </a:r>
          </a:p>
          <a:p>
            <a:pPr marL="0" indent="0">
              <a:buNone/>
            </a:pPr>
            <a:r>
              <a:rPr lang="en-US" dirty="0"/>
              <a:t>{</a:t>
            </a:r>
            <a:br>
              <a:rPr lang="en-US" dirty="0"/>
            </a:br>
            <a:r>
              <a:rPr lang="en-US" dirty="0"/>
              <a:t>    return a&gt;b? </a:t>
            </a:r>
            <a:r>
              <a:rPr lang="en-US" dirty="0" err="1"/>
              <a:t>a:b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A3756163-3C1F-7261-8D6D-31781429A563}"/>
              </a:ext>
            </a:extLst>
          </p:cNvPr>
          <p:cNvSpPr txBox="1">
            <a:spLocks/>
          </p:cNvSpPr>
          <p:nvPr/>
        </p:nvSpPr>
        <p:spPr>
          <a:xfrm>
            <a:off x="5807035" y="2139047"/>
            <a:ext cx="6033688" cy="29409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int max(int a, int b, </a:t>
            </a:r>
            <a:r>
              <a:rPr lang="en-US" dirty="0">
                <a:highlight>
                  <a:srgbClr val="FFFF00"/>
                </a:highlight>
              </a:rPr>
              <a:t>bool absolute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  if (absolute) </a:t>
            </a:r>
          </a:p>
          <a:p>
            <a:pPr marL="0" indent="0">
              <a:buNone/>
            </a:pPr>
            <a:r>
              <a:rPr lang="en-US" dirty="0"/>
              <a:t>        return abs(a)&gt;abs(b)?abs(a): abs(b);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    return a&gt;b? </a:t>
            </a:r>
            <a:r>
              <a:rPr lang="en-US" dirty="0" err="1"/>
              <a:t>a:b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BE128D7-D2E0-DE8E-DD81-2F97CF64381B}"/>
              </a:ext>
            </a:extLst>
          </p:cNvPr>
          <p:cNvGrpSpPr/>
          <p:nvPr/>
        </p:nvGrpSpPr>
        <p:grpSpPr>
          <a:xfrm>
            <a:off x="4336542" y="3015647"/>
            <a:ext cx="1379144" cy="259443"/>
            <a:chOff x="4560973" y="3983800"/>
            <a:chExt cx="1745280" cy="328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D551BAE-4E8D-AE44-6DDF-482DBB5E78EF}"/>
                    </a:ext>
                  </a:extLst>
                </p14:cNvPr>
                <p14:cNvContentPartPr/>
                <p14:nvPr/>
              </p14:nvContentPartPr>
              <p14:xfrm>
                <a:off x="4605253" y="4013320"/>
                <a:ext cx="1701000" cy="2988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D551BAE-4E8D-AE44-6DDF-482DBB5E78EF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597509" y="4005565"/>
                  <a:ext cx="1716488" cy="31431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032612A-DA67-83DB-16CE-23898DE30188}"/>
                    </a:ext>
                  </a:extLst>
                </p14:cNvPr>
                <p14:cNvContentPartPr/>
                <p14:nvPr/>
              </p14:nvContentPartPr>
              <p14:xfrm>
                <a:off x="4560973" y="3983800"/>
                <a:ext cx="238320" cy="2401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032612A-DA67-83DB-16CE-23898DE3018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553241" y="3976054"/>
                  <a:ext cx="253784" cy="255612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EC73B5A0-2363-C360-83A3-CE0F4CE207E8}"/>
              </a:ext>
            </a:extLst>
          </p:cNvPr>
          <p:cNvSpPr txBox="1"/>
          <p:nvPr/>
        </p:nvSpPr>
        <p:spPr>
          <a:xfrm>
            <a:off x="3997842" y="6035628"/>
            <a:ext cx="397128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/>
              <a:t>max(a, b) -&gt; max(a, b, false)</a:t>
            </a:r>
          </a:p>
        </p:txBody>
      </p:sp>
      <p:pic>
        <p:nvPicPr>
          <p:cNvPr id="5" name="Graphic 4" descr="Magic Wand Auto with solid fill">
            <a:extLst>
              <a:ext uri="{FF2B5EF4-FFF2-40B4-BE49-F238E27FC236}">
                <a16:creationId xmlns:a16="http://schemas.microsoft.com/office/drawing/2014/main" id="{771A73CE-DE6F-22E5-50B5-D75B10D87E4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218329" y="5598282"/>
            <a:ext cx="914400" cy="9144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4FA30E-855A-2351-F440-C63433A4A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52BE5-CB5B-EF4A-AB81-049ED835B54F}" type="slidenum">
              <a:rPr lang="en-US" smtClean="0"/>
              <a:t>6</a:t>
            </a:fld>
            <a:endParaRPr lang="en-US"/>
          </a:p>
        </p:txBody>
      </p:sp>
      <p:pic>
        <p:nvPicPr>
          <p:cNvPr id="7" name="Graphic 6" descr="Question Mark outline">
            <a:extLst>
              <a:ext uri="{FF2B5EF4-FFF2-40B4-BE49-F238E27FC236}">
                <a16:creationId xmlns:a16="http://schemas.microsoft.com/office/drawing/2014/main" id="{D4465412-27E9-88D0-08A3-5CEC666E686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306339" y="122464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9410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E1DA0-8CFA-5962-534F-D4FA5A0C6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4AE03-1DEF-1487-0EA9-25D1869F7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Equivalence Checking - 2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366D2408-D32D-E0C9-205C-AD7E78F026D0}"/>
              </a:ext>
            </a:extLst>
          </p:cNvPr>
          <p:cNvSpPr txBox="1">
            <a:spLocks/>
          </p:cNvSpPr>
          <p:nvPr/>
        </p:nvSpPr>
        <p:spPr>
          <a:xfrm>
            <a:off x="838200" y="2274513"/>
            <a:ext cx="3406993" cy="20011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int max(int a, int b)</a:t>
            </a:r>
          </a:p>
          <a:p>
            <a:pPr marL="0" indent="0">
              <a:buNone/>
            </a:pPr>
            <a:r>
              <a:rPr lang="en-US" dirty="0"/>
              <a:t>{</a:t>
            </a:r>
            <a:br>
              <a:rPr lang="en-US" dirty="0"/>
            </a:br>
            <a:r>
              <a:rPr lang="en-US" dirty="0"/>
              <a:t>    return a&gt;b? </a:t>
            </a:r>
            <a:r>
              <a:rPr lang="en-US" dirty="0" err="1"/>
              <a:t>a:b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58FB0755-4B6E-D2D8-655C-FCA00D79524C}"/>
              </a:ext>
            </a:extLst>
          </p:cNvPr>
          <p:cNvSpPr txBox="1">
            <a:spLocks/>
          </p:cNvSpPr>
          <p:nvPr/>
        </p:nvSpPr>
        <p:spPr>
          <a:xfrm>
            <a:off x="5807035" y="2139047"/>
            <a:ext cx="6033688" cy="29409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int max(int a, int b, </a:t>
            </a:r>
            <a:r>
              <a:rPr lang="en-US" dirty="0">
                <a:highlight>
                  <a:srgbClr val="FFFF00"/>
                </a:highlight>
              </a:rPr>
              <a:t>int </a:t>
            </a:r>
            <a:r>
              <a:rPr lang="en-US" dirty="0" err="1">
                <a:highlight>
                  <a:srgbClr val="FFFF00"/>
                </a:highlight>
              </a:rPr>
              <a:t>defaultValue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{</a:t>
            </a:r>
            <a:br>
              <a:rPr lang="en-US" dirty="0"/>
            </a:br>
            <a:r>
              <a:rPr lang="en-US" dirty="0"/>
              <a:t>    if (a&gt;b) return a;</a:t>
            </a:r>
          </a:p>
          <a:p>
            <a:pPr marL="0" indent="0">
              <a:buNone/>
            </a:pPr>
            <a:r>
              <a:rPr lang="en-US" dirty="0"/>
              <a:t>    else if (b&gt;a) return b;</a:t>
            </a:r>
          </a:p>
          <a:p>
            <a:pPr marL="0" indent="0">
              <a:buNone/>
            </a:pPr>
            <a:r>
              <a:rPr lang="en-US" dirty="0"/>
              <a:t>    else return </a:t>
            </a:r>
            <a:r>
              <a:rPr lang="en-US" dirty="0" err="1"/>
              <a:t>defaultValue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9C49088-31C7-8331-DA64-CD067A47406A}"/>
              </a:ext>
            </a:extLst>
          </p:cNvPr>
          <p:cNvGrpSpPr/>
          <p:nvPr/>
        </p:nvGrpSpPr>
        <p:grpSpPr>
          <a:xfrm>
            <a:off x="4336542" y="3015647"/>
            <a:ext cx="1379144" cy="259443"/>
            <a:chOff x="4560973" y="3983800"/>
            <a:chExt cx="1745280" cy="328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C31F1D0-D518-DA95-AEFF-5AAB4081EB25}"/>
                    </a:ext>
                  </a:extLst>
                </p14:cNvPr>
                <p14:cNvContentPartPr/>
                <p14:nvPr/>
              </p14:nvContentPartPr>
              <p14:xfrm>
                <a:off x="4605253" y="4013320"/>
                <a:ext cx="1701000" cy="2988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C31F1D0-D518-DA95-AEFF-5AAB4081EB25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597509" y="4005565"/>
                  <a:ext cx="1716488" cy="31431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DA794FC-765A-BEF3-EDFA-50CBD0C1635C}"/>
                    </a:ext>
                  </a:extLst>
                </p14:cNvPr>
                <p14:cNvContentPartPr/>
                <p14:nvPr/>
              </p14:nvContentPartPr>
              <p14:xfrm>
                <a:off x="4560973" y="3983800"/>
                <a:ext cx="238320" cy="2401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DA794FC-765A-BEF3-EDFA-50CBD0C1635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553241" y="3976054"/>
                  <a:ext cx="253784" cy="255612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C58776E-3193-13C2-6B16-39E905DB54B3}"/>
              </a:ext>
            </a:extLst>
          </p:cNvPr>
          <p:cNvSpPr txBox="1"/>
          <p:nvPr/>
        </p:nvSpPr>
        <p:spPr>
          <a:xfrm>
            <a:off x="3997842" y="6035628"/>
            <a:ext cx="347402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/>
              <a:t>max(a, b) -&gt; max(a, b, a)</a:t>
            </a:r>
          </a:p>
        </p:txBody>
      </p:sp>
      <p:pic>
        <p:nvPicPr>
          <p:cNvPr id="5" name="Graphic 4" descr="Magic Wand Auto with solid fill">
            <a:extLst>
              <a:ext uri="{FF2B5EF4-FFF2-40B4-BE49-F238E27FC236}">
                <a16:creationId xmlns:a16="http://schemas.microsoft.com/office/drawing/2014/main" id="{9B056603-03DA-A234-2390-AA455F2AAD9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218329" y="5598282"/>
            <a:ext cx="914400" cy="9144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43FC56-14AD-9920-3F3E-93635DD8F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52BE5-CB5B-EF4A-AB81-049ED835B54F}" type="slidenum">
              <a:rPr lang="en-US" smtClean="0"/>
              <a:t>7</a:t>
            </a:fld>
            <a:endParaRPr lang="en-US"/>
          </a:p>
        </p:txBody>
      </p:sp>
      <p:pic>
        <p:nvPicPr>
          <p:cNvPr id="10" name="Graphic 9" descr="Question Mark outline">
            <a:extLst>
              <a:ext uri="{FF2B5EF4-FFF2-40B4-BE49-F238E27FC236}">
                <a16:creationId xmlns:a16="http://schemas.microsoft.com/office/drawing/2014/main" id="{658B2E05-C1C5-0798-3E31-E0664D21A00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783417" y="114469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903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16882-2472-1435-BCEC-EF1E97E9A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Extended Equivalence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A7056-CA79-45CD-D8B8-E8C13259CD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Adapt the inputs to make them compatible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E94B161-EAD2-9505-B8A3-610577A0F80A}"/>
              </a:ext>
            </a:extLst>
          </p:cNvPr>
          <p:cNvSpPr txBox="1">
            <a:spLocks/>
          </p:cNvSpPr>
          <p:nvPr/>
        </p:nvSpPr>
        <p:spPr>
          <a:xfrm>
            <a:off x="838200" y="2816380"/>
            <a:ext cx="3406993" cy="20011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int max(int a, int b)</a:t>
            </a:r>
          </a:p>
          <a:p>
            <a:pPr marL="0" indent="0">
              <a:buNone/>
            </a:pPr>
            <a:r>
              <a:rPr lang="en-US" dirty="0"/>
              <a:t>{</a:t>
            </a:r>
            <a:br>
              <a:rPr lang="en-US" dirty="0"/>
            </a:br>
            <a:r>
              <a:rPr lang="en-US" dirty="0"/>
              <a:t>    return a&gt;b? </a:t>
            </a:r>
            <a:r>
              <a:rPr lang="en-US" dirty="0" err="1"/>
              <a:t>a:b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FD79707-F36E-36EF-A598-3054552D8A38}"/>
              </a:ext>
            </a:extLst>
          </p:cNvPr>
          <p:cNvSpPr txBox="1">
            <a:spLocks/>
          </p:cNvSpPr>
          <p:nvPr/>
        </p:nvSpPr>
        <p:spPr>
          <a:xfrm>
            <a:off x="5807035" y="2680914"/>
            <a:ext cx="6033688" cy="29409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int max(int a, int b, </a:t>
            </a:r>
            <a:r>
              <a:rPr lang="en-US" dirty="0">
                <a:highlight>
                  <a:srgbClr val="FFFF00"/>
                </a:highlight>
              </a:rPr>
              <a:t>bool absolute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  if (absolute) </a:t>
            </a:r>
          </a:p>
          <a:p>
            <a:pPr marL="0" indent="0">
              <a:buNone/>
            </a:pPr>
            <a:r>
              <a:rPr lang="en-US" dirty="0"/>
              <a:t>        return abs(a)&gt;abs(b)?abs(a): abs(b);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    return a&gt;b? </a:t>
            </a:r>
            <a:r>
              <a:rPr lang="en-US" dirty="0" err="1"/>
              <a:t>a:b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8E7044D-74ED-F316-2D13-48126AEB840F}"/>
              </a:ext>
            </a:extLst>
          </p:cNvPr>
          <p:cNvGrpSpPr/>
          <p:nvPr/>
        </p:nvGrpSpPr>
        <p:grpSpPr>
          <a:xfrm>
            <a:off x="4336542" y="3557514"/>
            <a:ext cx="1379144" cy="259443"/>
            <a:chOff x="4560973" y="3983800"/>
            <a:chExt cx="1745280" cy="328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1630DB2-5557-F81F-61ED-2FD09FDA8929}"/>
                    </a:ext>
                  </a:extLst>
                </p14:cNvPr>
                <p14:cNvContentPartPr/>
                <p14:nvPr/>
              </p14:nvContentPartPr>
              <p14:xfrm>
                <a:off x="4605253" y="4013320"/>
                <a:ext cx="1701000" cy="2988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1630DB2-5557-F81F-61ED-2FD09FDA892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597509" y="4005565"/>
                  <a:ext cx="1716488" cy="31431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15F762C-97F3-7215-D69B-80B8EFF1DAC3}"/>
                    </a:ext>
                  </a:extLst>
                </p14:cNvPr>
                <p14:cNvContentPartPr/>
                <p14:nvPr/>
              </p14:nvContentPartPr>
              <p14:xfrm>
                <a:off x="4560973" y="3983800"/>
                <a:ext cx="238320" cy="2401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15F762C-97F3-7215-D69B-80B8EFF1DAC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553241" y="3976054"/>
                  <a:ext cx="253784" cy="255612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813C107-836C-D6A5-9997-A1B74535A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52BE5-CB5B-EF4A-AB81-049ED835B54F}" type="slidenum">
              <a:rPr lang="en-US" smtClean="0"/>
              <a:t>8</a:t>
            </a:fld>
            <a:endParaRPr lang="en-US"/>
          </a:p>
        </p:txBody>
      </p:sp>
      <p:pic>
        <p:nvPicPr>
          <p:cNvPr id="13" name="Graphic 12" descr="Question Mark outline">
            <a:extLst>
              <a:ext uri="{FF2B5EF4-FFF2-40B4-BE49-F238E27FC236}">
                <a16:creationId xmlns:a16="http://schemas.microsoft.com/office/drawing/2014/main" id="{D6236DCA-E434-FA37-1DF6-C5B9F53D45F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25000" y="172860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4070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9C4AB-D2CC-1D8E-FE42-AE3A12546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Extending DSE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8AD1-5C04-BCE0-41B7-8B30E98A4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4244" y="1780091"/>
            <a:ext cx="7697956" cy="7061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Idea: use SMT solver to find the `transformation` </a:t>
            </a:r>
          </a:p>
        </p:txBody>
      </p:sp>
      <p:pic>
        <p:nvPicPr>
          <p:cNvPr id="7" name="Graphic 6" descr="Document with solid fill">
            <a:extLst>
              <a:ext uri="{FF2B5EF4-FFF2-40B4-BE49-F238E27FC236}">
                <a16:creationId xmlns:a16="http://schemas.microsoft.com/office/drawing/2014/main" id="{7F873ED2-EF56-556E-863B-6985947EB8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12708" y="2716528"/>
            <a:ext cx="914400" cy="855133"/>
          </a:xfrm>
          <a:prstGeom prst="rect">
            <a:avLst/>
          </a:prstGeom>
        </p:spPr>
      </p:pic>
      <p:pic>
        <p:nvPicPr>
          <p:cNvPr id="8" name="Graphic 7" descr="Document with solid fill">
            <a:extLst>
              <a:ext uri="{FF2B5EF4-FFF2-40B4-BE49-F238E27FC236}">
                <a16:creationId xmlns:a16="http://schemas.microsoft.com/office/drawing/2014/main" id="{F8D64EB6-5AFC-422F-D2A8-656EC7A67C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67025" y="2768600"/>
            <a:ext cx="914400" cy="914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856C15A-9A1B-330A-EFF4-A40C1F873E5A}"/>
              </a:ext>
            </a:extLst>
          </p:cNvPr>
          <p:cNvSpPr txBox="1"/>
          <p:nvPr/>
        </p:nvSpPr>
        <p:spPr>
          <a:xfrm>
            <a:off x="2723515" y="3691466"/>
            <a:ext cx="159857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 err="1"/>
              <a:t>FunctionA</a:t>
            </a:r>
            <a:endParaRPr lang="en-US" sz="2500" dirty="0"/>
          </a:p>
          <a:p>
            <a:r>
              <a:rPr lang="en-US" sz="2500" dirty="0"/>
              <a:t>(a, b, …)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23B11F-2FCE-128B-D778-2C6C76D6147D}"/>
              </a:ext>
            </a:extLst>
          </p:cNvPr>
          <p:cNvSpPr txBox="1"/>
          <p:nvPr/>
        </p:nvSpPr>
        <p:spPr>
          <a:xfrm>
            <a:off x="7269198" y="3639395"/>
            <a:ext cx="1603388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 err="1"/>
              <a:t>FunctionB</a:t>
            </a:r>
            <a:endParaRPr lang="en-US" sz="2500" dirty="0"/>
          </a:p>
          <a:p>
            <a:r>
              <a:rPr lang="en-US" sz="2500" dirty="0"/>
              <a:t>(a’, b’, …)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759B925-0C5C-C32E-8F4A-7D0A26566F4D}"/>
              </a:ext>
            </a:extLst>
          </p:cNvPr>
          <p:cNvSpPr txBox="1"/>
          <p:nvPr/>
        </p:nvSpPr>
        <p:spPr>
          <a:xfrm>
            <a:off x="4065639" y="4590383"/>
            <a:ext cx="3829831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 err="1"/>
              <a:t>a’,b</a:t>
            </a:r>
            <a:r>
              <a:rPr lang="en-US" sz="2500" dirty="0"/>
              <a:t>’, … = </a:t>
            </a:r>
            <a:r>
              <a:rPr lang="en-US" sz="2500" dirty="0">
                <a:highlight>
                  <a:srgbClr val="FFFF00"/>
                </a:highlight>
              </a:rPr>
              <a:t>transform</a:t>
            </a:r>
            <a:r>
              <a:rPr lang="en-US" sz="2500" dirty="0"/>
              <a:t>(</a:t>
            </a:r>
            <a:r>
              <a:rPr lang="en-US" sz="2500" dirty="0" err="1"/>
              <a:t>a,b</a:t>
            </a:r>
            <a:r>
              <a:rPr lang="en-US" sz="2500" dirty="0"/>
              <a:t>, …)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FC827053-53D5-9392-9662-289D52742648}"/>
              </a:ext>
            </a:extLst>
          </p:cNvPr>
          <p:cNvSpPr txBox="1">
            <a:spLocks/>
          </p:cNvSpPr>
          <p:nvPr/>
        </p:nvSpPr>
        <p:spPr>
          <a:xfrm>
            <a:off x="3634003" y="5758418"/>
            <a:ext cx="4693105" cy="7061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SMT: </a:t>
            </a:r>
            <a:r>
              <a:rPr lang="en-US" dirty="0" err="1"/>
              <a:t>FunctionA</a:t>
            </a:r>
            <a:r>
              <a:rPr lang="en-US" dirty="0"/>
              <a:t> == </a:t>
            </a:r>
            <a:r>
              <a:rPr lang="en-US" dirty="0" err="1"/>
              <a:t>FunctionB</a:t>
            </a:r>
            <a:endParaRPr lang="en-US" dirty="0"/>
          </a:p>
        </p:txBody>
      </p: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1B72342D-B751-F9A5-1670-0132752D4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52BE5-CB5B-EF4A-AB81-049ED835B54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3169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6FAD6-735B-35CE-4C82-BE714D96F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78805-329F-CFED-7E21-51A2EE714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Challenge: Equivalence Checking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8B9A1129-F441-CBB0-EBF3-E436A710283E}"/>
              </a:ext>
            </a:extLst>
          </p:cNvPr>
          <p:cNvSpPr txBox="1">
            <a:spLocks/>
          </p:cNvSpPr>
          <p:nvPr/>
        </p:nvSpPr>
        <p:spPr>
          <a:xfrm>
            <a:off x="838200" y="2274513"/>
            <a:ext cx="3406993" cy="20011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int max(int a, int b)</a:t>
            </a:r>
          </a:p>
          <a:p>
            <a:pPr marL="0" indent="0">
              <a:buNone/>
            </a:pPr>
            <a:r>
              <a:rPr lang="en-US" dirty="0"/>
              <a:t>{</a:t>
            </a:r>
            <a:br>
              <a:rPr lang="en-US" dirty="0"/>
            </a:br>
            <a:r>
              <a:rPr lang="en-US" dirty="0"/>
              <a:t>    return a&gt;b? </a:t>
            </a:r>
            <a:r>
              <a:rPr lang="en-US" dirty="0" err="1"/>
              <a:t>a:b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948BAAF-AEC0-2E93-6D0D-C6033F12F97F}"/>
              </a:ext>
            </a:extLst>
          </p:cNvPr>
          <p:cNvSpPr txBox="1">
            <a:spLocks/>
          </p:cNvSpPr>
          <p:nvPr/>
        </p:nvSpPr>
        <p:spPr>
          <a:xfrm>
            <a:off x="5519057" y="2139047"/>
            <a:ext cx="6388022" cy="29409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int max(</a:t>
            </a:r>
          </a:p>
          <a:p>
            <a:pPr marL="0" indent="0">
              <a:buNone/>
            </a:pPr>
            <a:r>
              <a:rPr lang="en-US" dirty="0"/>
              <a:t>	int a, int b, </a:t>
            </a:r>
            <a:r>
              <a:rPr lang="en-US" dirty="0">
                <a:highlight>
                  <a:srgbClr val="FFFF00"/>
                </a:highlight>
              </a:rPr>
              <a:t>int threshold</a:t>
            </a:r>
            <a:r>
              <a:rPr lang="en-US" dirty="0"/>
              <a:t>) {</a:t>
            </a:r>
          </a:p>
          <a:p>
            <a:pPr marL="0" indent="0">
              <a:buNone/>
            </a:pPr>
            <a:r>
              <a:rPr lang="en-US" dirty="0"/>
              <a:t>    int m = a&gt;</a:t>
            </a:r>
            <a:r>
              <a:rPr lang="en-US" dirty="0" err="1"/>
              <a:t>b?a:b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return m &gt; threshold ? threshold : m;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40DF221-317D-3B70-1543-10407FC74B2E}"/>
              </a:ext>
            </a:extLst>
          </p:cNvPr>
          <p:cNvGrpSpPr/>
          <p:nvPr/>
        </p:nvGrpSpPr>
        <p:grpSpPr>
          <a:xfrm>
            <a:off x="4192553" y="3227964"/>
            <a:ext cx="1379144" cy="259443"/>
            <a:chOff x="4560973" y="3983800"/>
            <a:chExt cx="1745280" cy="328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E7137AF-21C4-FF9F-8BFB-8C52E11CBA72}"/>
                    </a:ext>
                  </a:extLst>
                </p14:cNvPr>
                <p14:cNvContentPartPr/>
                <p14:nvPr/>
              </p14:nvContentPartPr>
              <p14:xfrm>
                <a:off x="4605253" y="4013320"/>
                <a:ext cx="1701000" cy="2988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E7137AF-21C4-FF9F-8BFB-8C52E11CBA72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597509" y="4005565"/>
                  <a:ext cx="1716488" cy="31431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0E61AB4-3E94-5089-7BD6-6FDE299A0B50}"/>
                    </a:ext>
                  </a:extLst>
                </p14:cNvPr>
                <p14:cNvContentPartPr/>
                <p14:nvPr/>
              </p14:nvContentPartPr>
              <p14:xfrm>
                <a:off x="4560973" y="3983800"/>
                <a:ext cx="238320" cy="2401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0E61AB4-3E94-5089-7BD6-6FDE299A0B5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553241" y="3976054"/>
                  <a:ext cx="253784" cy="255612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23CF223-0059-813B-7FBA-0F4E3F640092}"/>
              </a:ext>
            </a:extLst>
          </p:cNvPr>
          <p:cNvSpPr txBox="1"/>
          <p:nvPr/>
        </p:nvSpPr>
        <p:spPr>
          <a:xfrm>
            <a:off x="3997842" y="6035628"/>
            <a:ext cx="5212517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/>
              <a:t>max(a, b) -&gt; max(a, b, abs(a)+abs(b))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6C9FAC-11D6-8AE1-3792-23157A6AB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52BE5-CB5B-EF4A-AB81-049ED835B54F}" type="slidenum">
              <a:rPr lang="en-US" smtClean="0"/>
              <a:t>10</a:t>
            </a:fld>
            <a:endParaRPr lang="en-US"/>
          </a:p>
        </p:txBody>
      </p:sp>
      <p:pic>
        <p:nvPicPr>
          <p:cNvPr id="5" name="Graphic 4" descr="Magic Wand Auto with solid fill">
            <a:extLst>
              <a:ext uri="{FF2B5EF4-FFF2-40B4-BE49-F238E27FC236}">
                <a16:creationId xmlns:a16="http://schemas.microsoft.com/office/drawing/2014/main" id="{32F035B2-A01A-9728-9312-92FC66B3693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218329" y="559828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556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ABB0F-103F-5050-2F79-A71875EEE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7A4EA-73BB-FE85-4442-C5BE9ACCB4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5 functions-pairs with differing signatures</a:t>
            </a:r>
          </a:p>
          <a:p>
            <a:pPr lvl="1"/>
            <a:r>
              <a:rPr lang="en-US" dirty="0"/>
              <a:t>For all, there was a way to transform the inputs for equivalence. </a:t>
            </a:r>
          </a:p>
          <a:p>
            <a:r>
              <a:rPr lang="en-US" dirty="0"/>
              <a:t>4/5 cases, the technique synthesizes a valid transformation function.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5688CD-4E64-C777-5936-EEEDDC16B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52BE5-CB5B-EF4A-AB81-049ED835B54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173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0CFC8-9A9B-F1AD-0D6C-E9C6688A2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86A2C-1520-B20E-C5A2-8D5DE8896C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Other ways to change-signature:</a:t>
            </a:r>
          </a:p>
          <a:p>
            <a:pPr lvl="1"/>
            <a:r>
              <a:rPr lang="en-US" dirty="0"/>
              <a:t>Change parameter type</a:t>
            </a:r>
          </a:p>
          <a:p>
            <a:pPr lvl="1"/>
            <a:r>
              <a:rPr lang="en-US" dirty="0"/>
              <a:t>Delete parameter</a:t>
            </a:r>
          </a:p>
          <a:p>
            <a:pPr lvl="1"/>
            <a:r>
              <a:rPr lang="en-US" dirty="0"/>
              <a:t>Change return type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Extending to class-level refactorings:</a:t>
            </a:r>
          </a:p>
          <a:p>
            <a:pPr lvl="1"/>
            <a:r>
              <a:rPr lang="en-US" dirty="0"/>
              <a:t>Moving methods, extracting field, 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85D9FB-7D57-08D9-19C8-053E902E2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52BE5-CB5B-EF4A-AB81-049ED835B54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8935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8FCA4-AC9F-6F05-9890-B827FE1C0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63806-7790-3409-A27A-5C4B5E1F56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en-US" dirty="0"/>
              <a:t>Equivalence checking has been studied for function with the same signature</a:t>
            </a:r>
          </a:p>
          <a:p>
            <a:pPr>
              <a:buFontTx/>
              <a:buChar char="-"/>
            </a:pPr>
            <a:r>
              <a:rPr lang="en-US" dirty="0"/>
              <a:t>Extend the notion of eq. checking to functions with differing signatures. </a:t>
            </a:r>
          </a:p>
          <a:p>
            <a:pPr>
              <a:buFontTx/>
              <a:buChar char="-"/>
            </a:pPr>
            <a:r>
              <a:rPr lang="en-US" dirty="0"/>
              <a:t>Transform the arguments </a:t>
            </a:r>
            <a:r>
              <a:rPr lang="en-US" dirty="0">
                <a:sym typeface="Wingdings" pitchFamily="2" charset="2"/>
              </a:rPr>
              <a:t> resulting functions are equivalent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5DD945-50A7-1C34-64D3-0C8DA2BDF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752BE5-CB5B-EF4A-AB81-049ED835B54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3186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7102</TotalTime>
  <Words>1583</Words>
  <Application>Microsoft Macintosh PowerPoint</Application>
  <PresentationFormat>Widescreen</PresentationFormat>
  <Paragraphs>203</Paragraphs>
  <Slides>13</Slides>
  <Notes>12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Wingdings</vt:lpstr>
      <vt:lpstr>Office Theme</vt:lpstr>
      <vt:lpstr>Semantic Equivalence Checking for Design-Level Refactorings</vt:lpstr>
      <vt:lpstr>Software Evolution</vt:lpstr>
      <vt:lpstr>Equivalence Checking</vt:lpstr>
      <vt:lpstr>Equivalence Checking</vt:lpstr>
      <vt:lpstr>Differential Symbolic Execution (DSE)</vt:lpstr>
      <vt:lpstr>Equivalence Checking - 1</vt:lpstr>
      <vt:lpstr>Equivalence Checking - 2</vt:lpstr>
      <vt:lpstr>Extended Equivalence</vt:lpstr>
      <vt:lpstr>Extending DSE</vt:lpstr>
      <vt:lpstr>Challenge: Equivalence Checking</vt:lpstr>
      <vt:lpstr>Initial Evaluation</vt:lpstr>
      <vt:lpstr>Future Work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Abhiram Bellur</dc:creator>
  <cp:lastModifiedBy>Abhiram Bellur</cp:lastModifiedBy>
  <cp:revision>3</cp:revision>
  <dcterms:created xsi:type="dcterms:W3CDTF">2025-12-08T07:46:52Z</dcterms:created>
  <dcterms:modified xsi:type="dcterms:W3CDTF">2025-12-13T06:09:35Z</dcterms:modified>
</cp:coreProperties>
</file>